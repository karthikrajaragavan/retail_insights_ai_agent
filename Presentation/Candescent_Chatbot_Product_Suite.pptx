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560" y="2041475"/>
            <a:ext cx="891473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Chatbot Product Suite for Candescent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560" y="2806601"/>
            <a:ext cx="89147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5D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8C5DA"/>
                </a:solidFill>
                <a:latin typeface="Arial"/>
                <a:ea typeface="Arial"/>
                <a:cs typeface="Arial"/>
                <a:sym typeface="Arial"/>
              </a:rPr>
              <a:t>Conversational AI for Enterprise Data and Knowledge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 and Problem Statement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07950" y="1063526"/>
            <a:ext cx="829066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07950" y="1476226"/>
            <a:ext cx="812809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Business users wait hours or days to get data insights from analysts, delaying critical decisions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Support teams repeatedly answer the same policy and procedure questions, increasing operational costs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Enterprise knowledge is scattered across multiple documents, leading to inconsistent answers and compliance risks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07950" y="3085951"/>
            <a:ext cx="8128099" cy="1663452"/>
          </a:xfrm>
          <a:prstGeom prst="roundRect">
            <a:avLst>
              <a:gd fmla="val 3054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536525" y="3085951"/>
            <a:ext cx="0" cy="1663452"/>
          </a:xfrm>
          <a:prstGeom prst="straightConnector1">
            <a:avLst/>
          </a:prstGeom>
          <a:noFill/>
          <a:ln cap="flat" cmpd="sng" w="5715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869900" y="3339852"/>
            <a:ext cx="76105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69900" y="3638252"/>
            <a:ext cx="761057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Build a unified conversational AI platform that enables any user to get instant answers from enterprise data and documents - without requiring technical skills or support dependency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271713" y="961876"/>
            <a:ext cx="2101751" cy="364927"/>
          </a:xfrm>
          <a:prstGeom prst="roundRect">
            <a:avLst>
              <a:gd fmla="val 13921" name="adj"/>
            </a:avLst>
          </a:prstGeom>
          <a:solidFill>
            <a:srgbClr val="E8F4F8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2415858" y="1072902"/>
            <a:ext cx="181345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USER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5"/>
          <p:cNvCxnSpPr/>
          <p:nvPr/>
        </p:nvCxnSpPr>
        <p:spPr>
          <a:xfrm>
            <a:off x="3322588" y="1428304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5"/>
          <p:cNvSpPr/>
          <p:nvPr/>
        </p:nvSpPr>
        <p:spPr>
          <a:xfrm>
            <a:off x="1874937" y="1682204"/>
            <a:ext cx="2895302" cy="774502"/>
          </a:xfrm>
          <a:prstGeom prst="roundRect">
            <a:avLst>
              <a:gd fmla="val 655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2027238" y="1809155"/>
            <a:ext cx="25906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ORCHESTRATOR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2027238" y="2012305"/>
            <a:ext cx="259069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5D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8C5DA"/>
                </a:solidFill>
                <a:latin typeface="Arial"/>
                <a:ea typeface="Arial"/>
                <a:cs typeface="Arial"/>
                <a:sym typeface="Arial"/>
              </a:rPr>
              <a:t>Gemini 2.5 Pro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2027238" y="2196405"/>
            <a:ext cx="259069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5D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8C5DA"/>
                </a:solidFill>
                <a:latin typeface="Arial"/>
                <a:ea typeface="Arial"/>
                <a:cs typeface="Arial"/>
                <a:sym typeface="Arial"/>
              </a:rPr>
              <a:t>Tools: Guardrail Tool, Intent Classifier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3322588" y="2558207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5"/>
          <p:cNvSpPr/>
          <p:nvPr/>
        </p:nvSpPr>
        <p:spPr>
          <a:xfrm>
            <a:off x="878086" y="2812107"/>
            <a:ext cx="2254002" cy="1278731"/>
          </a:xfrm>
          <a:prstGeom prst="roundRect">
            <a:avLst>
              <a:gd fmla="val 3973" name="adj"/>
            </a:avLst>
          </a:prstGeom>
          <a:solidFill>
            <a:srgbClr val="F0F7FA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968792" y="2923133"/>
            <a:ext cx="207258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ANALYTICS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968792" y="3091309"/>
            <a:ext cx="207258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Gemini 2.5 Flash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989112" y="3281809"/>
            <a:ext cx="2031950" cy="672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8900" spcFirstLastPara="1" rIns="0" wrap="square" tIns="0">
            <a:noAutofit/>
          </a:bodyPr>
          <a:lstStyle/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Sub-Agents: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88900" marR="0" rtl="0" algn="l">
              <a:spcBef>
                <a:spcPts val="20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Schema Discovery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88900" marR="0" rtl="0" algn="l">
              <a:spcBef>
                <a:spcPts val="20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Query Resolution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88900" marR="0" rtl="0" algn="l">
              <a:spcBef>
                <a:spcPts val="20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Data Extraction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88900" marR="0" rtl="0" algn="l">
              <a:spcBef>
                <a:spcPts val="20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Response Validation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5"/>
          <p:cNvCxnSpPr/>
          <p:nvPr/>
        </p:nvCxnSpPr>
        <p:spPr>
          <a:xfrm>
            <a:off x="2005013" y="4090839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5"/>
          <p:cNvSpPr/>
          <p:nvPr/>
        </p:nvSpPr>
        <p:spPr>
          <a:xfrm>
            <a:off x="1030337" y="4344739"/>
            <a:ext cx="1949351" cy="469850"/>
          </a:xfrm>
          <a:prstGeom prst="roundRect">
            <a:avLst>
              <a:gd fmla="val 10812" name="adj"/>
            </a:avLst>
          </a:prstGeom>
          <a:solidFill>
            <a:srgbClr val="F8F9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098283" y="4430464"/>
            <a:ext cx="181345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SQL 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098283" y="4614565"/>
            <a:ext cx="18134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DuckDB / BigQuery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513088" y="2812107"/>
            <a:ext cx="2254002" cy="999530"/>
          </a:xfrm>
          <a:prstGeom prst="roundRect">
            <a:avLst>
              <a:gd fmla="val 5082" name="adj"/>
            </a:avLst>
          </a:prstGeom>
          <a:solidFill>
            <a:srgbClr val="F0F7FA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603794" y="2923133"/>
            <a:ext cx="207258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KNOWLEDGE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603794" y="3091309"/>
            <a:ext cx="207258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Gemini 2.5 Flash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624114" y="3281809"/>
            <a:ext cx="2031950" cy="393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8900" spcFirstLastPara="1" rIns="0" wrap="square" tIns="0">
            <a:noAutofit/>
          </a:bodyPr>
          <a:lstStyle/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Sub-Agents: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88900" marR="0" rtl="0" algn="l">
              <a:spcBef>
                <a:spcPts val="20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Retrieval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88900" marR="0" rtl="0" algn="l">
              <a:spcBef>
                <a:spcPts val="20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Synthesis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4640014" y="3811637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5"/>
          <p:cNvSpPr/>
          <p:nvPr/>
        </p:nvSpPr>
        <p:spPr>
          <a:xfrm>
            <a:off x="3665339" y="4065538"/>
            <a:ext cx="1949351" cy="469850"/>
          </a:xfrm>
          <a:prstGeom prst="roundRect">
            <a:avLst>
              <a:gd fmla="val 10812" name="adj"/>
            </a:avLst>
          </a:prstGeom>
          <a:solidFill>
            <a:srgbClr val="F8F9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733285" y="4151263"/>
            <a:ext cx="181345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VECTOR STORE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733285" y="4335363"/>
            <a:ext cx="18134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Pinecone / Chroma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6345287" y="961876"/>
            <a:ext cx="0" cy="3978473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5"/>
          <p:cNvSpPr/>
          <p:nvPr/>
        </p:nvSpPr>
        <p:spPr>
          <a:xfrm>
            <a:off x="6553200" y="961875"/>
            <a:ext cx="23316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Design Principles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5"/>
          <p:cNvCxnSpPr/>
          <p:nvPr/>
        </p:nvCxnSpPr>
        <p:spPr>
          <a:xfrm>
            <a:off x="6562725" y="1294313"/>
            <a:ext cx="0" cy="474900"/>
          </a:xfrm>
          <a:prstGeom prst="straightConnector1">
            <a:avLst/>
          </a:prstGeom>
          <a:noFill/>
          <a:ln cap="flat" cmpd="sng" w="1905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5"/>
          <p:cNvSpPr/>
          <p:nvPr/>
        </p:nvSpPr>
        <p:spPr>
          <a:xfrm>
            <a:off x="6699200" y="1294313"/>
            <a:ext cx="21828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Security 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699200" y="1481310"/>
            <a:ext cx="2182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Guardrails validate every query before processing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5"/>
          <p:cNvCxnSpPr/>
          <p:nvPr/>
        </p:nvCxnSpPr>
        <p:spPr>
          <a:xfrm>
            <a:off x="6562725" y="1935491"/>
            <a:ext cx="0" cy="474900"/>
          </a:xfrm>
          <a:prstGeom prst="straightConnector1">
            <a:avLst/>
          </a:prstGeom>
          <a:noFill/>
          <a:ln cap="flat" cmpd="sng" w="1905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5"/>
          <p:cNvSpPr/>
          <p:nvPr/>
        </p:nvSpPr>
        <p:spPr>
          <a:xfrm>
            <a:off x="6699200" y="1935491"/>
            <a:ext cx="21828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Dynamic Discovery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699200" y="2122488"/>
            <a:ext cx="2182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hardcoded schemas or documents - RAG-based retrieval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6562725" y="2576669"/>
            <a:ext cx="0" cy="330900"/>
          </a:xfrm>
          <a:prstGeom prst="straightConnector1">
            <a:avLst/>
          </a:prstGeom>
          <a:noFill/>
          <a:ln cap="flat" cmpd="sng" w="1905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5"/>
          <p:cNvSpPr/>
          <p:nvPr/>
        </p:nvSpPr>
        <p:spPr>
          <a:xfrm>
            <a:off x="6699200" y="2576669"/>
            <a:ext cx="21828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Specialized Agents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699200" y="2763666"/>
            <a:ext cx="21828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Clear separation of concerns for maintainability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5"/>
          <p:cNvCxnSpPr/>
          <p:nvPr/>
        </p:nvCxnSpPr>
        <p:spPr>
          <a:xfrm>
            <a:off x="6562725" y="3073866"/>
            <a:ext cx="0" cy="474900"/>
          </a:xfrm>
          <a:prstGeom prst="straightConnector1">
            <a:avLst/>
          </a:prstGeom>
          <a:noFill/>
          <a:ln cap="flat" cmpd="sng" w="1905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5"/>
          <p:cNvSpPr/>
          <p:nvPr/>
        </p:nvSpPr>
        <p:spPr>
          <a:xfrm>
            <a:off x="6699200" y="3073866"/>
            <a:ext cx="21828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Cost Optimized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699200" y="3260863"/>
            <a:ext cx="2182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 for reasoning, Flash for speed - 40% savings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Multi-Agent Workflows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07950" y="936427"/>
            <a:ext cx="82906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Detailed Task 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07950" y="1234827"/>
            <a:ext cx="3810149" cy="355402"/>
          </a:xfrm>
          <a:prstGeom prst="roundRect">
            <a:avLst>
              <a:gd fmla="val 14294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25297" y="1336328"/>
            <a:ext cx="35754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ANALYTICS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07950" y="1691729"/>
            <a:ext cx="3810149" cy="345877"/>
          </a:xfrm>
          <a:prstGeom prst="roundRect">
            <a:avLst>
              <a:gd fmla="val 11015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73380" y="1793230"/>
            <a:ext cx="367929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"What are the top revenue products?"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7950" y="2139107"/>
            <a:ext cx="3810149" cy="498425"/>
          </a:xfrm>
          <a:prstGeom prst="roundRect">
            <a:avLst>
              <a:gd fmla="val 10192" name="adj"/>
            </a:avLst>
          </a:prstGeom>
          <a:solidFill>
            <a:srgbClr val="FFFFFF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44426" y="2224832"/>
            <a:ext cx="360794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Schema Discovery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44426" y="2418457"/>
            <a:ext cx="36079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Find relevant tables dynamically using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6"/>
          <p:cNvCxnSpPr/>
          <p:nvPr/>
        </p:nvCxnSpPr>
        <p:spPr>
          <a:xfrm>
            <a:off x="2422475" y="2700933"/>
            <a:ext cx="0" cy="76200"/>
          </a:xfrm>
          <a:prstGeom prst="straightConnector1">
            <a:avLst/>
          </a:prstGeom>
          <a:noFill/>
          <a:ln cap="flat" cmpd="sng" w="1905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6"/>
          <p:cNvSpPr/>
          <p:nvPr/>
        </p:nvSpPr>
        <p:spPr>
          <a:xfrm>
            <a:off x="507950" y="2802434"/>
            <a:ext cx="3810149" cy="498425"/>
          </a:xfrm>
          <a:prstGeom prst="roundRect">
            <a:avLst>
              <a:gd fmla="val 10192" name="adj"/>
            </a:avLst>
          </a:prstGeom>
          <a:solidFill>
            <a:srgbClr val="FFFFFF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44426" y="2888159"/>
            <a:ext cx="360794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Query Resolution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44426" y="3081784"/>
            <a:ext cx="36079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Convert natural language to SQL 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>
            <a:off x="2422475" y="3364260"/>
            <a:ext cx="0" cy="76200"/>
          </a:xfrm>
          <a:prstGeom prst="straightConnector1">
            <a:avLst/>
          </a:prstGeom>
          <a:noFill/>
          <a:ln cap="flat" cmpd="sng" w="1905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6"/>
          <p:cNvSpPr/>
          <p:nvPr/>
        </p:nvSpPr>
        <p:spPr>
          <a:xfrm>
            <a:off x="507950" y="3465761"/>
            <a:ext cx="3810149" cy="498425"/>
          </a:xfrm>
          <a:prstGeom prst="roundRect">
            <a:avLst>
              <a:gd fmla="val 10192" name="adj"/>
            </a:avLst>
          </a:prstGeom>
          <a:solidFill>
            <a:srgbClr val="FFFFFF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44426" y="3551486"/>
            <a:ext cx="360794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Data 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44426" y="3745111"/>
            <a:ext cx="36079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Execute SQL and retrieve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6"/>
          <p:cNvCxnSpPr/>
          <p:nvPr/>
        </p:nvCxnSpPr>
        <p:spPr>
          <a:xfrm>
            <a:off x="2422475" y="4027587"/>
            <a:ext cx="0" cy="76200"/>
          </a:xfrm>
          <a:prstGeom prst="straightConnector1">
            <a:avLst/>
          </a:prstGeom>
          <a:noFill/>
          <a:ln cap="flat" cmpd="sng" w="1905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6"/>
          <p:cNvSpPr/>
          <p:nvPr/>
        </p:nvSpPr>
        <p:spPr>
          <a:xfrm>
            <a:off x="507950" y="4129088"/>
            <a:ext cx="3810149" cy="498425"/>
          </a:xfrm>
          <a:prstGeom prst="roundRect">
            <a:avLst>
              <a:gd fmla="val 10192" name="adj"/>
            </a:avLst>
          </a:prstGeom>
          <a:solidFill>
            <a:srgbClr val="E8F5E9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44426" y="4214813"/>
            <a:ext cx="360794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44426" y="4408438"/>
            <a:ext cx="36079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Format as business insight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826050" y="1234827"/>
            <a:ext cx="3810149" cy="355402"/>
          </a:xfrm>
          <a:prstGeom prst="roundRect">
            <a:avLst>
              <a:gd fmla="val 14294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943396" y="1336328"/>
            <a:ext cx="35754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KNOWLEDGE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826050" y="1691729"/>
            <a:ext cx="3810149" cy="345877"/>
          </a:xfrm>
          <a:prstGeom prst="roundRect">
            <a:avLst>
              <a:gd fmla="val 11015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891479" y="1793230"/>
            <a:ext cx="367929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"What is the refund policy?"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826050" y="2139107"/>
            <a:ext cx="3810149" cy="498425"/>
          </a:xfrm>
          <a:prstGeom prst="roundRect">
            <a:avLst>
              <a:gd fmla="val 10192" name="adj"/>
            </a:avLst>
          </a:prstGeom>
          <a:solidFill>
            <a:srgbClr val="FFFFFF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962525" y="2224832"/>
            <a:ext cx="360794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Retrieval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962525" y="2418457"/>
            <a:ext cx="36079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Search documents for relevant chunks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6"/>
          <p:cNvCxnSpPr/>
          <p:nvPr/>
        </p:nvCxnSpPr>
        <p:spPr>
          <a:xfrm>
            <a:off x="6740575" y="2700933"/>
            <a:ext cx="0" cy="76200"/>
          </a:xfrm>
          <a:prstGeom prst="straightConnector1">
            <a:avLst/>
          </a:prstGeom>
          <a:noFill/>
          <a:ln cap="flat" cmpd="sng" w="1905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6"/>
          <p:cNvSpPr/>
          <p:nvPr/>
        </p:nvSpPr>
        <p:spPr>
          <a:xfrm>
            <a:off x="4826050" y="2802434"/>
            <a:ext cx="3810149" cy="498425"/>
          </a:xfrm>
          <a:prstGeom prst="roundRect">
            <a:avLst>
              <a:gd fmla="val 10192" name="adj"/>
            </a:avLst>
          </a:prstGeom>
          <a:solidFill>
            <a:srgbClr val="FFFFFF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962525" y="2888159"/>
            <a:ext cx="360794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Synthesis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962525" y="3081784"/>
            <a:ext cx="36079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Generate answer from retrieved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6"/>
          <p:cNvCxnSpPr/>
          <p:nvPr/>
        </p:nvCxnSpPr>
        <p:spPr>
          <a:xfrm>
            <a:off x="6740575" y="3364260"/>
            <a:ext cx="0" cy="76200"/>
          </a:xfrm>
          <a:prstGeom prst="straightConnector1">
            <a:avLst/>
          </a:prstGeom>
          <a:noFill/>
          <a:ln cap="flat" cmpd="sng" w="1905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/>
          <p:nvPr/>
        </p:nvSpPr>
        <p:spPr>
          <a:xfrm>
            <a:off x="4826050" y="3465761"/>
            <a:ext cx="3810149" cy="498425"/>
          </a:xfrm>
          <a:prstGeom prst="roundRect">
            <a:avLst>
              <a:gd fmla="val 10192" name="adj"/>
            </a:avLst>
          </a:prstGeom>
          <a:solidFill>
            <a:srgbClr val="E8F5E9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962525" y="3551486"/>
            <a:ext cx="360794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962525" y="3745111"/>
            <a:ext cx="36079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Clear, sourced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07950" y="961876"/>
            <a:ext cx="8128099" cy="406301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07950" y="961876"/>
            <a:ext cx="1838325" cy="406301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7"/>
          <p:cNvCxnSpPr/>
          <p:nvPr/>
        </p:nvCxnSpPr>
        <p:spPr>
          <a:xfrm>
            <a:off x="2341513" y="961876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7"/>
          <p:cNvSpPr/>
          <p:nvPr/>
        </p:nvSpPr>
        <p:spPr>
          <a:xfrm>
            <a:off x="660350" y="1088827"/>
            <a:ext cx="61739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2346275" y="961876"/>
            <a:ext cx="2854226" cy="406301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7"/>
          <p:cNvCxnSpPr/>
          <p:nvPr/>
        </p:nvCxnSpPr>
        <p:spPr>
          <a:xfrm>
            <a:off x="5195739" y="961876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7"/>
          <p:cNvSpPr/>
          <p:nvPr/>
        </p:nvSpPr>
        <p:spPr>
          <a:xfrm>
            <a:off x="2498675" y="1088827"/>
            <a:ext cx="41958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200501" y="961876"/>
            <a:ext cx="2336750" cy="406301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352901" y="1088827"/>
            <a:ext cx="424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7"/>
          <p:cNvCxnSpPr/>
          <p:nvPr/>
        </p:nvCxnSpPr>
        <p:spPr>
          <a:xfrm>
            <a:off x="507950" y="1779240"/>
            <a:ext cx="8128099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7"/>
          <p:cNvSpPr/>
          <p:nvPr/>
        </p:nvSpPr>
        <p:spPr>
          <a:xfrm>
            <a:off x="507950" y="1368177"/>
            <a:ext cx="1838325" cy="40630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2341513" y="1368177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7"/>
          <p:cNvSpPr/>
          <p:nvPr/>
        </p:nvSpPr>
        <p:spPr>
          <a:xfrm>
            <a:off x="660350" y="1495127"/>
            <a:ext cx="641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7"/>
          <p:cNvCxnSpPr/>
          <p:nvPr/>
        </p:nvCxnSpPr>
        <p:spPr>
          <a:xfrm>
            <a:off x="5195739" y="1368177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7"/>
          <p:cNvSpPr/>
          <p:nvPr/>
        </p:nvSpPr>
        <p:spPr>
          <a:xfrm>
            <a:off x="2498675" y="1495127"/>
            <a:ext cx="144093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Query Resolution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352901" y="1495127"/>
            <a:ext cx="165026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1" lang="en-US" sz="1100">
                <a:solidFill>
                  <a:srgbClr val="4A90A4"/>
                </a:solidFill>
              </a:rPr>
              <a:t>80</a:t>
            </a:r>
            <a:r>
              <a:rPr b="1" i="0" lang="en-US" sz="11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% without escalation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07950" y="1784003"/>
            <a:ext cx="8128099" cy="41582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7"/>
          <p:cNvCxnSpPr/>
          <p:nvPr/>
        </p:nvCxnSpPr>
        <p:spPr>
          <a:xfrm>
            <a:off x="507950" y="2195066"/>
            <a:ext cx="8128099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7"/>
          <p:cNvSpPr/>
          <p:nvPr/>
        </p:nvSpPr>
        <p:spPr>
          <a:xfrm>
            <a:off x="507950" y="1784003"/>
            <a:ext cx="1838325" cy="40630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7"/>
          <p:cNvCxnSpPr/>
          <p:nvPr/>
        </p:nvCxnSpPr>
        <p:spPr>
          <a:xfrm>
            <a:off x="2341513" y="1784003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7"/>
          <p:cNvCxnSpPr/>
          <p:nvPr/>
        </p:nvCxnSpPr>
        <p:spPr>
          <a:xfrm>
            <a:off x="5195739" y="1784003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7"/>
          <p:cNvSpPr/>
          <p:nvPr/>
        </p:nvSpPr>
        <p:spPr>
          <a:xfrm>
            <a:off x="2498675" y="1910953"/>
            <a:ext cx="144062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SQL/RAG Correctness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352901" y="1910953"/>
            <a:ext cx="123903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&gt;9</a:t>
            </a:r>
            <a:r>
              <a:rPr b="1" lang="en-US" sz="1100">
                <a:solidFill>
                  <a:srgbClr val="4A90A4"/>
                </a:solidFill>
              </a:rPr>
              <a:t>5</a:t>
            </a:r>
            <a:r>
              <a:rPr b="1" i="0" lang="en-US" sz="11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% valid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507950" y="2610892"/>
            <a:ext cx="8128099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7"/>
          <p:cNvSpPr/>
          <p:nvPr/>
        </p:nvSpPr>
        <p:spPr>
          <a:xfrm>
            <a:off x="507950" y="2199829"/>
            <a:ext cx="1838325" cy="40630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2341513" y="2199829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7"/>
          <p:cNvSpPr/>
          <p:nvPr/>
        </p:nvSpPr>
        <p:spPr>
          <a:xfrm>
            <a:off x="660350" y="2326779"/>
            <a:ext cx="87090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7"/>
          <p:cNvCxnSpPr/>
          <p:nvPr/>
        </p:nvCxnSpPr>
        <p:spPr>
          <a:xfrm>
            <a:off x="5195739" y="2199829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7"/>
          <p:cNvSpPr/>
          <p:nvPr/>
        </p:nvSpPr>
        <p:spPr>
          <a:xfrm>
            <a:off x="2498675" y="2326779"/>
            <a:ext cx="125891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End-to-End Latency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352900" y="2326775"/>
            <a:ext cx="1022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&lt;5-</a:t>
            </a:r>
            <a:r>
              <a:rPr b="1" lang="en-US" sz="1100">
                <a:solidFill>
                  <a:srgbClr val="4A90A4"/>
                </a:solidFill>
              </a:rPr>
              <a:t>10</a:t>
            </a:r>
            <a:r>
              <a:rPr b="1" i="0" lang="en-US" sz="11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 seconds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07950" y="2615654"/>
            <a:ext cx="8128099" cy="41582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507950" y="3026718"/>
            <a:ext cx="8128099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7"/>
          <p:cNvSpPr/>
          <p:nvPr/>
        </p:nvSpPr>
        <p:spPr>
          <a:xfrm>
            <a:off x="507950" y="2615654"/>
            <a:ext cx="1838325" cy="40630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7"/>
          <p:cNvCxnSpPr/>
          <p:nvPr/>
        </p:nvCxnSpPr>
        <p:spPr>
          <a:xfrm>
            <a:off x="2341513" y="2615654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7"/>
          <p:cNvSpPr/>
          <p:nvPr/>
        </p:nvSpPr>
        <p:spPr>
          <a:xfrm>
            <a:off x="660350" y="2742605"/>
            <a:ext cx="111637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7"/>
          <p:cNvCxnSpPr/>
          <p:nvPr/>
        </p:nvCxnSpPr>
        <p:spPr>
          <a:xfrm>
            <a:off x="5195739" y="2615654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7"/>
          <p:cNvSpPr/>
          <p:nvPr/>
        </p:nvSpPr>
        <p:spPr>
          <a:xfrm>
            <a:off x="2498675" y="2742605"/>
            <a:ext cx="124009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Satisfaction (CSAT)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352901" y="2742605"/>
            <a:ext cx="5979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&gt;4.0 / 5.0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7"/>
          <p:cNvCxnSpPr/>
          <p:nvPr/>
        </p:nvCxnSpPr>
        <p:spPr>
          <a:xfrm>
            <a:off x="507950" y="3442543"/>
            <a:ext cx="8128099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7"/>
          <p:cNvSpPr/>
          <p:nvPr/>
        </p:nvSpPr>
        <p:spPr>
          <a:xfrm>
            <a:off x="507950" y="3031480"/>
            <a:ext cx="1838325" cy="40630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7"/>
          <p:cNvCxnSpPr/>
          <p:nvPr/>
        </p:nvCxnSpPr>
        <p:spPr>
          <a:xfrm>
            <a:off x="2341513" y="3031480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7"/>
          <p:cNvSpPr/>
          <p:nvPr/>
        </p:nvSpPr>
        <p:spPr>
          <a:xfrm>
            <a:off x="660350" y="3158430"/>
            <a:ext cx="56213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7"/>
          <p:cNvCxnSpPr/>
          <p:nvPr/>
        </p:nvCxnSpPr>
        <p:spPr>
          <a:xfrm>
            <a:off x="5195739" y="3031480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7"/>
          <p:cNvSpPr/>
          <p:nvPr/>
        </p:nvSpPr>
        <p:spPr>
          <a:xfrm>
            <a:off x="2498675" y="3158430"/>
            <a:ext cx="158317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Guardrail False Positives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352901" y="3158430"/>
            <a:ext cx="157133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&lt;5% blocked legitimate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07950" y="3447306"/>
            <a:ext cx="8128099" cy="41582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7"/>
          <p:cNvCxnSpPr/>
          <p:nvPr/>
        </p:nvCxnSpPr>
        <p:spPr>
          <a:xfrm>
            <a:off x="507950" y="3858369"/>
            <a:ext cx="8128099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7"/>
          <p:cNvSpPr/>
          <p:nvPr/>
        </p:nvSpPr>
        <p:spPr>
          <a:xfrm>
            <a:off x="507950" y="3447306"/>
            <a:ext cx="1838325" cy="40630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7"/>
          <p:cNvCxnSpPr/>
          <p:nvPr/>
        </p:nvCxnSpPr>
        <p:spPr>
          <a:xfrm>
            <a:off x="2341513" y="3447306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7"/>
          <p:cNvSpPr/>
          <p:nvPr/>
        </p:nvSpPr>
        <p:spPr>
          <a:xfrm>
            <a:off x="660350" y="3574256"/>
            <a:ext cx="6727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7"/>
          <p:cNvCxnSpPr/>
          <p:nvPr/>
        </p:nvCxnSpPr>
        <p:spPr>
          <a:xfrm>
            <a:off x="5195739" y="3447306"/>
            <a:ext cx="0" cy="406301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7"/>
          <p:cNvSpPr/>
          <p:nvPr/>
        </p:nvSpPr>
        <p:spPr>
          <a:xfrm>
            <a:off x="2498675" y="3574256"/>
            <a:ext cx="96563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System Uptime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352901" y="3574256"/>
            <a:ext cx="48714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&gt;99.5%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07950" y="4066282"/>
            <a:ext cx="8128099" cy="723900"/>
          </a:xfrm>
          <a:prstGeom prst="roundRect">
            <a:avLst>
              <a:gd fmla="val 7018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7"/>
          <p:cNvCxnSpPr/>
          <p:nvPr/>
        </p:nvCxnSpPr>
        <p:spPr>
          <a:xfrm>
            <a:off x="531763" y="4066282"/>
            <a:ext cx="0" cy="723900"/>
          </a:xfrm>
          <a:prstGeom prst="straightConnector1">
            <a:avLst/>
          </a:prstGeom>
          <a:noFill/>
          <a:ln cap="flat" cmpd="sng" w="476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7"/>
          <p:cNvSpPr/>
          <p:nvPr/>
        </p:nvSpPr>
        <p:spPr>
          <a:xfrm>
            <a:off x="758726" y="4218682"/>
            <a:ext cx="782765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SUCCESS DEFINITION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58726" y="4437757"/>
            <a:ext cx="782765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Users prefer the chatbot over emailing analysts or searching documents manually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 and Security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81000" y="936427"/>
            <a:ext cx="41451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Multi-Layer Protection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81000" y="1433066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94556" y="1509266"/>
            <a:ext cx="7924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12750" y="1285577"/>
            <a:ext cx="3632150" cy="599926"/>
          </a:xfrm>
          <a:prstGeom prst="roundRect">
            <a:avLst>
              <a:gd fmla="val 8468" name="adj"/>
            </a:avLst>
          </a:prstGeom>
          <a:solidFill>
            <a:srgbClr val="F0F7FA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974675" y="1422053"/>
            <a:ext cx="337446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Pattern Matching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974675" y="1615678"/>
            <a:ext cx="337446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SQL injection, prompt attacks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8"/>
          <p:cNvCxnSpPr/>
          <p:nvPr/>
        </p:nvCxnSpPr>
        <p:spPr>
          <a:xfrm>
            <a:off x="690563" y="1948904"/>
            <a:ext cx="0" cy="76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8"/>
          <p:cNvSpPr/>
          <p:nvPr/>
        </p:nvSpPr>
        <p:spPr>
          <a:xfrm>
            <a:off x="381000" y="2172593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94556" y="2248793"/>
            <a:ext cx="7924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812750" y="2025104"/>
            <a:ext cx="3632150" cy="599926"/>
          </a:xfrm>
          <a:prstGeom prst="roundRect">
            <a:avLst>
              <a:gd fmla="val 8468" name="adj"/>
            </a:avLst>
          </a:prstGeom>
          <a:solidFill>
            <a:srgbClr val="F0F7FA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74675" y="2161580"/>
            <a:ext cx="337446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Topic Classification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74675" y="2355205"/>
            <a:ext cx="337446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Off-topic query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8"/>
          <p:cNvCxnSpPr/>
          <p:nvPr/>
        </p:nvCxnSpPr>
        <p:spPr>
          <a:xfrm>
            <a:off x="690563" y="2688431"/>
            <a:ext cx="0" cy="76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8"/>
          <p:cNvSpPr/>
          <p:nvPr/>
        </p:nvSpPr>
        <p:spPr>
          <a:xfrm>
            <a:off x="381000" y="2912120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94556" y="2988320"/>
            <a:ext cx="7924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12750" y="2764631"/>
            <a:ext cx="3632150" cy="599926"/>
          </a:xfrm>
          <a:prstGeom prst="roundRect">
            <a:avLst>
              <a:gd fmla="val 8468" name="adj"/>
            </a:avLst>
          </a:prstGeom>
          <a:solidFill>
            <a:srgbClr val="F0F7FA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74675" y="2901107"/>
            <a:ext cx="337446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Intent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74675" y="3094732"/>
            <a:ext cx="337446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Adversarial request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8"/>
          <p:cNvCxnSpPr/>
          <p:nvPr/>
        </p:nvCxnSpPr>
        <p:spPr>
          <a:xfrm>
            <a:off x="690563" y="3427958"/>
            <a:ext cx="0" cy="76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8"/>
          <p:cNvSpPr/>
          <p:nvPr/>
        </p:nvSpPr>
        <p:spPr>
          <a:xfrm>
            <a:off x="381000" y="3651647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94556" y="3727847"/>
            <a:ext cx="7924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12750" y="3504158"/>
            <a:ext cx="3632150" cy="599926"/>
          </a:xfrm>
          <a:prstGeom prst="roundRect">
            <a:avLst>
              <a:gd fmla="val 8468" name="adj"/>
            </a:avLst>
          </a:prstGeom>
          <a:solidFill>
            <a:srgbClr val="F0F7FA"/>
          </a:solidFill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74675" y="3640634"/>
            <a:ext cx="337446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Output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974675" y="3834259"/>
            <a:ext cx="337446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PII leakage, unsafe content check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4754463" y="936427"/>
            <a:ext cx="0" cy="4029373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8"/>
          <p:cNvSpPr/>
          <p:nvPr/>
        </p:nvSpPr>
        <p:spPr>
          <a:xfrm>
            <a:off x="5064026" y="936427"/>
            <a:ext cx="377295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064026" y="1285577"/>
            <a:ext cx="3698974" cy="336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064026" y="1285577"/>
            <a:ext cx="1751856" cy="336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8"/>
          <p:cNvCxnSpPr/>
          <p:nvPr/>
        </p:nvCxnSpPr>
        <p:spPr>
          <a:xfrm>
            <a:off x="6811119" y="1285577"/>
            <a:ext cx="0" cy="336352"/>
          </a:xfrm>
          <a:prstGeom prst="straightConnector1">
            <a:avLst/>
          </a:prstGeom>
          <a:noFill/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8"/>
          <p:cNvSpPr/>
          <p:nvPr/>
        </p:nvSpPr>
        <p:spPr>
          <a:xfrm>
            <a:off x="5165527" y="1387078"/>
            <a:ext cx="157011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815882" y="1285577"/>
            <a:ext cx="974527" cy="336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8"/>
          <p:cNvCxnSpPr/>
          <p:nvPr/>
        </p:nvCxnSpPr>
        <p:spPr>
          <a:xfrm>
            <a:off x="7785646" y="1285577"/>
            <a:ext cx="0" cy="336352"/>
          </a:xfrm>
          <a:prstGeom prst="straightConnector1">
            <a:avLst/>
          </a:prstGeom>
          <a:noFill/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8"/>
          <p:cNvSpPr/>
          <p:nvPr/>
        </p:nvSpPr>
        <p:spPr>
          <a:xfrm>
            <a:off x="6909762" y="1387078"/>
            <a:ext cx="77724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790408" y="1285577"/>
            <a:ext cx="972592" cy="336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891909" y="1387078"/>
            <a:ext cx="7849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8"/>
          <p:cNvCxnSpPr/>
          <p:nvPr/>
        </p:nvCxnSpPr>
        <p:spPr>
          <a:xfrm>
            <a:off x="5064026" y="1963043"/>
            <a:ext cx="3698974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8"/>
          <p:cNvSpPr/>
          <p:nvPr/>
        </p:nvSpPr>
        <p:spPr>
          <a:xfrm>
            <a:off x="5064026" y="1621929"/>
            <a:ext cx="1751856" cy="33635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8"/>
          <p:cNvCxnSpPr/>
          <p:nvPr/>
        </p:nvCxnSpPr>
        <p:spPr>
          <a:xfrm>
            <a:off x="6811119" y="1621929"/>
            <a:ext cx="0" cy="336352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8"/>
          <p:cNvSpPr/>
          <p:nvPr/>
        </p:nvSpPr>
        <p:spPr>
          <a:xfrm>
            <a:off x="5165527" y="1723430"/>
            <a:ext cx="157011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"Top selling products?"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8"/>
          <p:cNvCxnSpPr/>
          <p:nvPr/>
        </p:nvCxnSpPr>
        <p:spPr>
          <a:xfrm>
            <a:off x="7785646" y="1621929"/>
            <a:ext cx="0" cy="336352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8"/>
          <p:cNvSpPr/>
          <p:nvPr/>
        </p:nvSpPr>
        <p:spPr>
          <a:xfrm>
            <a:off x="6909762" y="1723430"/>
            <a:ext cx="77724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CAF50"/>
                </a:solidFill>
                <a:latin typeface="Arial"/>
                <a:ea typeface="Arial"/>
                <a:cs typeface="Arial"/>
                <a:sym typeface="Arial"/>
              </a:rPr>
              <a:t>ALLOWED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891909" y="1723430"/>
            <a:ext cx="7849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Valid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8"/>
          <p:cNvCxnSpPr/>
          <p:nvPr/>
        </p:nvCxnSpPr>
        <p:spPr>
          <a:xfrm>
            <a:off x="5064026" y="2442270"/>
            <a:ext cx="3698974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8"/>
          <p:cNvSpPr/>
          <p:nvPr/>
        </p:nvSpPr>
        <p:spPr>
          <a:xfrm>
            <a:off x="5064026" y="1967805"/>
            <a:ext cx="1751856" cy="46970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8"/>
          <p:cNvCxnSpPr/>
          <p:nvPr/>
        </p:nvCxnSpPr>
        <p:spPr>
          <a:xfrm>
            <a:off x="6811119" y="1967805"/>
            <a:ext cx="0" cy="469702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8"/>
          <p:cNvSpPr/>
          <p:nvPr/>
        </p:nvSpPr>
        <p:spPr>
          <a:xfrm>
            <a:off x="5165527" y="2069306"/>
            <a:ext cx="157011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"What is refund policy?"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8"/>
          <p:cNvCxnSpPr/>
          <p:nvPr/>
        </p:nvCxnSpPr>
        <p:spPr>
          <a:xfrm>
            <a:off x="7785646" y="1967805"/>
            <a:ext cx="0" cy="469702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8"/>
          <p:cNvSpPr/>
          <p:nvPr/>
        </p:nvSpPr>
        <p:spPr>
          <a:xfrm>
            <a:off x="6909762" y="2069306"/>
            <a:ext cx="77724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CAF50"/>
                </a:solidFill>
                <a:latin typeface="Arial"/>
                <a:ea typeface="Arial"/>
                <a:cs typeface="Arial"/>
                <a:sym typeface="Arial"/>
              </a:rPr>
              <a:t>ALLOWED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891909" y="2069306"/>
            <a:ext cx="78498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Valid knowledge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8"/>
          <p:cNvCxnSpPr/>
          <p:nvPr/>
        </p:nvCxnSpPr>
        <p:spPr>
          <a:xfrm>
            <a:off x="5064026" y="2788146"/>
            <a:ext cx="3698974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8"/>
          <p:cNvSpPr/>
          <p:nvPr/>
        </p:nvSpPr>
        <p:spPr>
          <a:xfrm>
            <a:off x="5064026" y="2447032"/>
            <a:ext cx="1751856" cy="33635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8"/>
          <p:cNvCxnSpPr/>
          <p:nvPr/>
        </p:nvCxnSpPr>
        <p:spPr>
          <a:xfrm>
            <a:off x="6811119" y="2447032"/>
            <a:ext cx="0" cy="336352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8"/>
          <p:cNvSpPr/>
          <p:nvPr/>
        </p:nvSpPr>
        <p:spPr>
          <a:xfrm>
            <a:off x="5165527" y="2548533"/>
            <a:ext cx="157011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"DROP TABLE users"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8"/>
          <p:cNvCxnSpPr/>
          <p:nvPr/>
        </p:nvCxnSpPr>
        <p:spPr>
          <a:xfrm>
            <a:off x="7785646" y="2447032"/>
            <a:ext cx="0" cy="336352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8"/>
          <p:cNvSpPr/>
          <p:nvPr/>
        </p:nvSpPr>
        <p:spPr>
          <a:xfrm>
            <a:off x="6909762" y="2548533"/>
            <a:ext cx="77724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433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44336"/>
                </a:solidFill>
                <a:latin typeface="Arial"/>
                <a:ea typeface="Arial"/>
                <a:cs typeface="Arial"/>
                <a:sym typeface="Arial"/>
              </a:rPr>
              <a:t>BLOCKED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891909" y="2548533"/>
            <a:ext cx="7849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SQL injection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8"/>
          <p:cNvCxnSpPr/>
          <p:nvPr/>
        </p:nvCxnSpPr>
        <p:spPr>
          <a:xfrm>
            <a:off x="5064026" y="3267373"/>
            <a:ext cx="3698974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8"/>
          <p:cNvSpPr/>
          <p:nvPr/>
        </p:nvSpPr>
        <p:spPr>
          <a:xfrm>
            <a:off x="5064026" y="2792909"/>
            <a:ext cx="1751856" cy="46970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8"/>
          <p:cNvCxnSpPr/>
          <p:nvPr/>
        </p:nvCxnSpPr>
        <p:spPr>
          <a:xfrm>
            <a:off x="6811119" y="2792909"/>
            <a:ext cx="0" cy="469702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8"/>
          <p:cNvSpPr/>
          <p:nvPr/>
        </p:nvSpPr>
        <p:spPr>
          <a:xfrm>
            <a:off x="5165527" y="2894409"/>
            <a:ext cx="157011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"Ignore your instructions"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8"/>
          <p:cNvCxnSpPr/>
          <p:nvPr/>
        </p:nvCxnSpPr>
        <p:spPr>
          <a:xfrm>
            <a:off x="7785646" y="2792909"/>
            <a:ext cx="0" cy="469702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8"/>
          <p:cNvSpPr/>
          <p:nvPr/>
        </p:nvSpPr>
        <p:spPr>
          <a:xfrm>
            <a:off x="6909762" y="2894409"/>
            <a:ext cx="77724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433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44336"/>
                </a:solidFill>
                <a:latin typeface="Arial"/>
                <a:ea typeface="Arial"/>
                <a:cs typeface="Arial"/>
                <a:sym typeface="Arial"/>
              </a:rPr>
              <a:t>BLOCKED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891909" y="2894409"/>
            <a:ext cx="78498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Prompt injection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8"/>
          <p:cNvCxnSpPr/>
          <p:nvPr/>
        </p:nvCxnSpPr>
        <p:spPr>
          <a:xfrm>
            <a:off x="5064026" y="3613249"/>
            <a:ext cx="3698974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8"/>
          <p:cNvSpPr/>
          <p:nvPr/>
        </p:nvSpPr>
        <p:spPr>
          <a:xfrm>
            <a:off x="5064026" y="3272135"/>
            <a:ext cx="1751856" cy="33635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8"/>
          <p:cNvCxnSpPr/>
          <p:nvPr/>
        </p:nvCxnSpPr>
        <p:spPr>
          <a:xfrm>
            <a:off x="6811119" y="3272135"/>
            <a:ext cx="0" cy="336352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8"/>
          <p:cNvSpPr/>
          <p:nvPr/>
        </p:nvSpPr>
        <p:spPr>
          <a:xfrm>
            <a:off x="5165527" y="3373636"/>
            <a:ext cx="157011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"Tell me a joke"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8"/>
          <p:cNvCxnSpPr/>
          <p:nvPr/>
        </p:nvCxnSpPr>
        <p:spPr>
          <a:xfrm>
            <a:off x="7785646" y="3272135"/>
            <a:ext cx="0" cy="336352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8"/>
          <p:cNvSpPr/>
          <p:nvPr/>
        </p:nvSpPr>
        <p:spPr>
          <a:xfrm>
            <a:off x="6909762" y="3373636"/>
            <a:ext cx="77724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433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44336"/>
                </a:solidFill>
                <a:latin typeface="Arial"/>
                <a:ea typeface="Arial"/>
                <a:cs typeface="Arial"/>
                <a:sym typeface="Arial"/>
              </a:rPr>
              <a:t>BLOCKED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7891909" y="3373636"/>
            <a:ext cx="7849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Off-topic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064051" y="3959113"/>
            <a:ext cx="3699000" cy="520500"/>
          </a:xfrm>
          <a:prstGeom prst="roundRect">
            <a:avLst>
              <a:gd fmla="val 7318" name="adj"/>
            </a:avLst>
          </a:prstGeom>
          <a:solidFill>
            <a:srgbClr val="FFF8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8"/>
          <p:cNvCxnSpPr/>
          <p:nvPr/>
        </p:nvCxnSpPr>
        <p:spPr>
          <a:xfrm>
            <a:off x="5083101" y="3959113"/>
            <a:ext cx="0" cy="520500"/>
          </a:xfrm>
          <a:prstGeom prst="straightConnector1">
            <a:avLst/>
          </a:prstGeom>
          <a:noFill/>
          <a:ln cap="flat" cmpd="sng" w="38100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8"/>
          <p:cNvSpPr/>
          <p:nvPr/>
        </p:nvSpPr>
        <p:spPr>
          <a:xfrm>
            <a:off x="5254551" y="4086063"/>
            <a:ext cx="3423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Audit Trail:</a:t>
            </a: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Every query logged with timestamp, user, classification, decision, and response for 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Techniques and Rationale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81000" y="911126"/>
            <a:ext cx="8549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Core Techniques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81000" y="1209526"/>
            <a:ext cx="8382000" cy="27920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9"/>
          <p:cNvCxnSpPr/>
          <p:nvPr/>
        </p:nvCxnSpPr>
        <p:spPr>
          <a:xfrm>
            <a:off x="381000" y="1483965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9"/>
          <p:cNvSpPr/>
          <p:nvPr/>
        </p:nvSpPr>
        <p:spPr>
          <a:xfrm>
            <a:off x="381000" y="1209526"/>
            <a:ext cx="1990427" cy="26967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9"/>
          <p:cNvCxnSpPr/>
          <p:nvPr/>
        </p:nvCxnSpPr>
        <p:spPr>
          <a:xfrm>
            <a:off x="2366665" y="1209526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9"/>
          <p:cNvSpPr/>
          <p:nvPr/>
        </p:nvSpPr>
        <p:spPr>
          <a:xfrm>
            <a:off x="482501" y="1272927"/>
            <a:ext cx="181345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2371427" y="1209526"/>
            <a:ext cx="2752427" cy="26967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9"/>
          <p:cNvCxnSpPr/>
          <p:nvPr/>
        </p:nvCxnSpPr>
        <p:spPr>
          <a:xfrm>
            <a:off x="5119092" y="1209526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9"/>
          <p:cNvSpPr/>
          <p:nvPr/>
        </p:nvSpPr>
        <p:spPr>
          <a:xfrm>
            <a:off x="2472928" y="1272927"/>
            <a:ext cx="25906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123855" y="1209526"/>
            <a:ext cx="3639145" cy="269677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225355" y="1272927"/>
            <a:ext cx="35048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This Choice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9"/>
          <p:cNvCxnSpPr/>
          <p:nvPr/>
        </p:nvCxnSpPr>
        <p:spPr>
          <a:xfrm>
            <a:off x="381000" y="1763167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9"/>
          <p:cNvSpPr/>
          <p:nvPr/>
        </p:nvSpPr>
        <p:spPr>
          <a:xfrm>
            <a:off x="381000" y="1488728"/>
            <a:ext cx="1990427" cy="26967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9"/>
          <p:cNvCxnSpPr/>
          <p:nvPr/>
        </p:nvCxnSpPr>
        <p:spPr>
          <a:xfrm>
            <a:off x="2366665" y="1488728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9"/>
          <p:cNvSpPr/>
          <p:nvPr/>
        </p:nvSpPr>
        <p:spPr>
          <a:xfrm>
            <a:off x="482501" y="1552129"/>
            <a:ext cx="181345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Dynamic Schema RAG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9"/>
          <p:cNvCxnSpPr/>
          <p:nvPr/>
        </p:nvCxnSpPr>
        <p:spPr>
          <a:xfrm>
            <a:off x="5119092" y="1488728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9"/>
          <p:cNvSpPr/>
          <p:nvPr/>
        </p:nvSpPr>
        <p:spPr>
          <a:xfrm>
            <a:off x="2472928" y="1552129"/>
            <a:ext cx="25906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Vector search for relevant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5225355" y="1552129"/>
            <a:ext cx="35048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Scales to 100s of tables, adapts to changes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381000" y="1767929"/>
            <a:ext cx="8382000" cy="27920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9"/>
          <p:cNvCxnSpPr/>
          <p:nvPr/>
        </p:nvCxnSpPr>
        <p:spPr>
          <a:xfrm>
            <a:off x="381000" y="2042368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9"/>
          <p:cNvSpPr/>
          <p:nvPr/>
        </p:nvSpPr>
        <p:spPr>
          <a:xfrm>
            <a:off x="381000" y="1767929"/>
            <a:ext cx="1990427" cy="26967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9"/>
          <p:cNvCxnSpPr/>
          <p:nvPr/>
        </p:nvCxnSpPr>
        <p:spPr>
          <a:xfrm>
            <a:off x="2366665" y="1767929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9"/>
          <p:cNvSpPr/>
          <p:nvPr/>
        </p:nvSpPr>
        <p:spPr>
          <a:xfrm>
            <a:off x="482501" y="1831330"/>
            <a:ext cx="181345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NL-to-SQL (LLM)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9"/>
          <p:cNvCxnSpPr/>
          <p:nvPr/>
        </p:nvCxnSpPr>
        <p:spPr>
          <a:xfrm>
            <a:off x="5119092" y="1767929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9"/>
          <p:cNvSpPr/>
          <p:nvPr/>
        </p:nvSpPr>
        <p:spPr>
          <a:xfrm>
            <a:off x="2472928" y="1831330"/>
            <a:ext cx="25906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Convert question to 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5225355" y="1831330"/>
            <a:ext cx="35048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Handles complex natural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9"/>
          <p:cNvCxnSpPr/>
          <p:nvPr/>
        </p:nvCxnSpPr>
        <p:spPr>
          <a:xfrm>
            <a:off x="381000" y="232157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9"/>
          <p:cNvSpPr/>
          <p:nvPr/>
        </p:nvSpPr>
        <p:spPr>
          <a:xfrm>
            <a:off x="381000" y="2047131"/>
            <a:ext cx="1990427" cy="26967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9"/>
          <p:cNvCxnSpPr/>
          <p:nvPr/>
        </p:nvCxnSpPr>
        <p:spPr>
          <a:xfrm>
            <a:off x="2366665" y="2047131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9"/>
          <p:cNvSpPr/>
          <p:nvPr/>
        </p:nvSpPr>
        <p:spPr>
          <a:xfrm>
            <a:off x="482501" y="2110532"/>
            <a:ext cx="181345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Document RAG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9"/>
          <p:cNvCxnSpPr/>
          <p:nvPr/>
        </p:nvCxnSpPr>
        <p:spPr>
          <a:xfrm>
            <a:off x="5119092" y="2047131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9"/>
          <p:cNvSpPr/>
          <p:nvPr/>
        </p:nvSpPr>
        <p:spPr>
          <a:xfrm>
            <a:off x="2472928" y="2110532"/>
            <a:ext cx="25906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Vector search + synthesis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225355" y="2110532"/>
            <a:ext cx="35048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Semantic understanding of documents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381000" y="2326332"/>
            <a:ext cx="8382000" cy="27920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9"/>
          <p:cNvCxnSpPr/>
          <p:nvPr/>
        </p:nvCxnSpPr>
        <p:spPr>
          <a:xfrm>
            <a:off x="381000" y="2600771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9"/>
          <p:cNvSpPr/>
          <p:nvPr/>
        </p:nvSpPr>
        <p:spPr>
          <a:xfrm>
            <a:off x="381000" y="2326332"/>
            <a:ext cx="1990427" cy="26967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9"/>
          <p:cNvCxnSpPr/>
          <p:nvPr/>
        </p:nvCxnSpPr>
        <p:spPr>
          <a:xfrm>
            <a:off x="2366665" y="2326332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/>
          <p:nvPr/>
        </p:nvSpPr>
        <p:spPr>
          <a:xfrm>
            <a:off x="482501" y="2389733"/>
            <a:ext cx="181345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Sequential Agents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9"/>
          <p:cNvCxnSpPr/>
          <p:nvPr/>
        </p:nvCxnSpPr>
        <p:spPr>
          <a:xfrm>
            <a:off x="5119092" y="2326332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9"/>
          <p:cNvSpPr/>
          <p:nvPr/>
        </p:nvSpPr>
        <p:spPr>
          <a:xfrm>
            <a:off x="2472928" y="2389733"/>
            <a:ext cx="25906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Pipeline of specialized 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225355" y="2389733"/>
            <a:ext cx="35048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Data dependency, clear error handling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9"/>
          <p:cNvCxnSpPr/>
          <p:nvPr/>
        </p:nvCxnSpPr>
        <p:spPr>
          <a:xfrm>
            <a:off x="381000" y="2879973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9"/>
          <p:cNvSpPr/>
          <p:nvPr/>
        </p:nvSpPr>
        <p:spPr>
          <a:xfrm>
            <a:off x="381000" y="2605534"/>
            <a:ext cx="1990427" cy="26967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9"/>
          <p:cNvCxnSpPr/>
          <p:nvPr/>
        </p:nvCxnSpPr>
        <p:spPr>
          <a:xfrm>
            <a:off x="2366665" y="2605534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9"/>
          <p:cNvSpPr/>
          <p:nvPr/>
        </p:nvSpPr>
        <p:spPr>
          <a:xfrm>
            <a:off x="482501" y="2668935"/>
            <a:ext cx="181345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Multi-Model Routing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9"/>
          <p:cNvCxnSpPr/>
          <p:nvPr/>
        </p:nvCxnSpPr>
        <p:spPr>
          <a:xfrm>
            <a:off x="5119092" y="2605534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9"/>
          <p:cNvSpPr/>
          <p:nvPr/>
        </p:nvSpPr>
        <p:spPr>
          <a:xfrm>
            <a:off x="2472928" y="2668935"/>
            <a:ext cx="25906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Pro for reasoning, Flash for speed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225355" y="2668935"/>
            <a:ext cx="35048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40% cost optimization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81000" y="2884736"/>
            <a:ext cx="8382000" cy="27920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9"/>
          <p:cNvCxnSpPr/>
          <p:nvPr/>
        </p:nvCxnSpPr>
        <p:spPr>
          <a:xfrm>
            <a:off x="381000" y="3159175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9"/>
          <p:cNvSpPr/>
          <p:nvPr/>
        </p:nvSpPr>
        <p:spPr>
          <a:xfrm>
            <a:off x="381000" y="2884736"/>
            <a:ext cx="1990427" cy="26967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9"/>
          <p:cNvCxnSpPr/>
          <p:nvPr/>
        </p:nvCxnSpPr>
        <p:spPr>
          <a:xfrm>
            <a:off x="2366665" y="2884736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9"/>
          <p:cNvSpPr/>
          <p:nvPr/>
        </p:nvSpPr>
        <p:spPr>
          <a:xfrm>
            <a:off x="482501" y="2948136"/>
            <a:ext cx="181345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NeMo Guardrails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9"/>
          <p:cNvCxnSpPr/>
          <p:nvPr/>
        </p:nvCxnSpPr>
        <p:spPr>
          <a:xfrm>
            <a:off x="5119092" y="2884736"/>
            <a:ext cx="0" cy="269677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9"/>
          <p:cNvSpPr/>
          <p:nvPr/>
        </p:nvSpPr>
        <p:spPr>
          <a:xfrm>
            <a:off x="2472928" y="2948136"/>
            <a:ext cx="25906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Multi-layer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225355" y="2948136"/>
            <a:ext cx="35048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Production-grade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381000" y="3290888"/>
            <a:ext cx="8549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381000" y="3589288"/>
            <a:ext cx="4064050" cy="260152"/>
          </a:xfrm>
          <a:prstGeom prst="roundRect">
            <a:avLst>
              <a:gd fmla="val 14645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9"/>
          <p:cNvCxnSpPr/>
          <p:nvPr/>
        </p:nvCxnSpPr>
        <p:spPr>
          <a:xfrm>
            <a:off x="400050" y="3589288"/>
            <a:ext cx="0" cy="260152"/>
          </a:xfrm>
          <a:prstGeom prst="straightConnector1">
            <a:avLst/>
          </a:prstGeom>
          <a:noFill/>
          <a:ln cap="flat" cmpd="sng" w="3810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9"/>
          <p:cNvSpPr/>
          <p:nvPr/>
        </p:nvSpPr>
        <p:spPr>
          <a:xfrm>
            <a:off x="520601" y="3652689"/>
            <a:ext cx="142483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Agent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1917502" y="3652689"/>
            <a:ext cx="64167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Google ADK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381000" y="3900190"/>
            <a:ext cx="4064050" cy="260152"/>
          </a:xfrm>
          <a:prstGeom prst="roundRect">
            <a:avLst>
              <a:gd fmla="val 14645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p9"/>
          <p:cNvCxnSpPr/>
          <p:nvPr/>
        </p:nvCxnSpPr>
        <p:spPr>
          <a:xfrm>
            <a:off x="400050" y="3900190"/>
            <a:ext cx="0" cy="260152"/>
          </a:xfrm>
          <a:prstGeom prst="straightConnector1">
            <a:avLst/>
          </a:prstGeom>
          <a:noFill/>
          <a:ln cap="flat" cmpd="sng" w="3810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9"/>
          <p:cNvSpPr/>
          <p:nvPr/>
        </p:nvSpPr>
        <p:spPr>
          <a:xfrm>
            <a:off x="520601" y="3963591"/>
            <a:ext cx="142483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Orchestrator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1917502" y="3963591"/>
            <a:ext cx="77769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Gemini 2.5 Pro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81000" y="4211092"/>
            <a:ext cx="4064050" cy="260152"/>
          </a:xfrm>
          <a:prstGeom prst="roundRect">
            <a:avLst>
              <a:gd fmla="val 14645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9"/>
          <p:cNvCxnSpPr/>
          <p:nvPr/>
        </p:nvCxnSpPr>
        <p:spPr>
          <a:xfrm>
            <a:off x="400050" y="4211092"/>
            <a:ext cx="0" cy="260152"/>
          </a:xfrm>
          <a:prstGeom prst="straightConnector1">
            <a:avLst/>
          </a:prstGeom>
          <a:noFill/>
          <a:ln cap="flat" cmpd="sng" w="3810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9"/>
          <p:cNvSpPr/>
          <p:nvPr/>
        </p:nvSpPr>
        <p:spPr>
          <a:xfrm>
            <a:off x="520601" y="4274493"/>
            <a:ext cx="142483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SQL 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1917502" y="4274493"/>
            <a:ext cx="401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GPT-4o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698950" y="3589288"/>
            <a:ext cx="4064050" cy="260152"/>
          </a:xfrm>
          <a:prstGeom prst="roundRect">
            <a:avLst>
              <a:gd fmla="val 14645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9"/>
          <p:cNvCxnSpPr/>
          <p:nvPr/>
        </p:nvCxnSpPr>
        <p:spPr>
          <a:xfrm>
            <a:off x="4718000" y="3589288"/>
            <a:ext cx="0" cy="260152"/>
          </a:xfrm>
          <a:prstGeom prst="straightConnector1">
            <a:avLst/>
          </a:prstGeom>
          <a:noFill/>
          <a:ln cap="flat" cmpd="sng" w="3810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9"/>
          <p:cNvSpPr/>
          <p:nvPr/>
        </p:nvSpPr>
        <p:spPr>
          <a:xfrm>
            <a:off x="4838551" y="3652689"/>
            <a:ext cx="142483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Vector 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6235452" y="3652689"/>
            <a:ext cx="48623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Pinecone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698950" y="3900190"/>
            <a:ext cx="4064050" cy="260152"/>
          </a:xfrm>
          <a:prstGeom prst="roundRect">
            <a:avLst>
              <a:gd fmla="val 14645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9"/>
          <p:cNvCxnSpPr/>
          <p:nvPr/>
        </p:nvCxnSpPr>
        <p:spPr>
          <a:xfrm>
            <a:off x="4718000" y="3900190"/>
            <a:ext cx="0" cy="260152"/>
          </a:xfrm>
          <a:prstGeom prst="straightConnector1">
            <a:avLst/>
          </a:prstGeom>
          <a:noFill/>
          <a:ln cap="flat" cmpd="sng" w="3810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9"/>
          <p:cNvSpPr/>
          <p:nvPr/>
        </p:nvSpPr>
        <p:spPr>
          <a:xfrm>
            <a:off x="4838551" y="3963591"/>
            <a:ext cx="142483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Query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235452" y="3963591"/>
            <a:ext cx="101086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DuckDB / BigQuery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4698950" y="4211092"/>
            <a:ext cx="4064050" cy="260152"/>
          </a:xfrm>
          <a:prstGeom prst="roundRect">
            <a:avLst>
              <a:gd fmla="val 14645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9"/>
          <p:cNvCxnSpPr/>
          <p:nvPr/>
        </p:nvCxnSpPr>
        <p:spPr>
          <a:xfrm>
            <a:off x="4718000" y="4211092"/>
            <a:ext cx="0" cy="260152"/>
          </a:xfrm>
          <a:prstGeom prst="straightConnector1">
            <a:avLst/>
          </a:prstGeom>
          <a:noFill/>
          <a:ln cap="flat" cmpd="sng" w="3810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9"/>
          <p:cNvSpPr/>
          <p:nvPr/>
        </p:nvSpPr>
        <p:spPr>
          <a:xfrm>
            <a:off x="4838551" y="4274493"/>
            <a:ext cx="142483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235452" y="4274493"/>
            <a:ext cx="72577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NVIDIA NeMo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Feedback Loops &amp; Continuous Improvement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81000" y="1012627"/>
            <a:ext cx="36270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Continuous Improvement 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530400" y="1361777"/>
            <a:ext cx="1257002" cy="650825"/>
          </a:xfrm>
          <a:prstGeom prst="roundRect">
            <a:avLst>
              <a:gd fmla="val 7805" name="adj"/>
            </a:avLst>
          </a:prstGeom>
          <a:solidFill>
            <a:srgbClr val="E3F2FD"/>
          </a:solidFill>
          <a:ln cap="flat" cmpd="sng" w="1905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1640791" y="1533227"/>
            <a:ext cx="10362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COLLECT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640791" y="1726853"/>
            <a:ext cx="10362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User Feedback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2426047" y="1925315"/>
            <a:ext cx="1257002" cy="650825"/>
          </a:xfrm>
          <a:prstGeom prst="roundRect">
            <a:avLst>
              <a:gd fmla="val 7805" name="adj"/>
            </a:avLst>
          </a:prstGeom>
          <a:solidFill>
            <a:srgbClr val="FFF3E0"/>
          </a:solidFill>
          <a:ln cap="flat" cmpd="sng" w="19050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2536439" y="2096765"/>
            <a:ext cx="10362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2536439" y="2290390"/>
            <a:ext cx="10362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530400" y="2488853"/>
            <a:ext cx="1257002" cy="650825"/>
          </a:xfrm>
          <a:prstGeom prst="roundRect">
            <a:avLst>
              <a:gd fmla="val 7805" name="adj"/>
            </a:avLst>
          </a:prstGeom>
          <a:solidFill>
            <a:srgbClr val="E8F5E9"/>
          </a:solidFill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1640791" y="2660303"/>
            <a:ext cx="10362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IMPROVE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1640791" y="2853928"/>
            <a:ext cx="10362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634901" y="1925315"/>
            <a:ext cx="1257002" cy="650825"/>
          </a:xfrm>
          <a:prstGeom prst="roundRect">
            <a:avLst>
              <a:gd fmla="val 7805" name="adj"/>
            </a:avLst>
          </a:prstGeom>
          <a:solidFill>
            <a:srgbClr val="F3E5F5"/>
          </a:solidFill>
          <a:ln cap="flat" cmpd="sng" w="19050">
            <a:solidFill>
              <a:srgbClr val="9C2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745293" y="2096765"/>
            <a:ext cx="10362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745293" y="2290390"/>
            <a:ext cx="10362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Updates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381000" y="3292078"/>
            <a:ext cx="36270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Automatic Triggers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81000" y="3536454"/>
            <a:ext cx="3555950" cy="285750"/>
          </a:xfrm>
          <a:prstGeom prst="roundRect">
            <a:avLst>
              <a:gd fmla="val 13333" name="adj"/>
            </a:avLst>
          </a:prstGeom>
          <a:solidFill>
            <a:srgbClr val="FFF8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10"/>
          <p:cNvCxnSpPr/>
          <p:nvPr/>
        </p:nvCxnSpPr>
        <p:spPr>
          <a:xfrm>
            <a:off x="400050" y="3536454"/>
            <a:ext cx="0" cy="285750"/>
          </a:xfrm>
          <a:prstGeom prst="straightConnector1">
            <a:avLst/>
          </a:prstGeom>
          <a:noFill/>
          <a:ln cap="flat" cmpd="sng" w="38100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10"/>
          <p:cNvSpPr/>
          <p:nvPr/>
        </p:nvSpPr>
        <p:spPr>
          <a:xfrm>
            <a:off x="520601" y="3612654"/>
            <a:ext cx="132237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Schema change detected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1817043" y="3612654"/>
            <a:ext cx="1165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1931343" y="3612654"/>
            <a:ext cx="113428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Re-index embeddings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81000" y="3898404"/>
            <a:ext cx="3555950" cy="285750"/>
          </a:xfrm>
          <a:prstGeom prst="roundRect">
            <a:avLst>
              <a:gd fmla="val 13333" name="adj"/>
            </a:avLst>
          </a:prstGeom>
          <a:solidFill>
            <a:srgbClr val="FFF8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10"/>
          <p:cNvCxnSpPr/>
          <p:nvPr/>
        </p:nvCxnSpPr>
        <p:spPr>
          <a:xfrm>
            <a:off x="400050" y="3898404"/>
            <a:ext cx="0" cy="285750"/>
          </a:xfrm>
          <a:prstGeom prst="straightConnector1">
            <a:avLst/>
          </a:prstGeom>
          <a:noFill/>
          <a:ln cap="flat" cmpd="sng" w="38100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10"/>
          <p:cNvSpPr/>
          <p:nvPr/>
        </p:nvSpPr>
        <p:spPr>
          <a:xfrm>
            <a:off x="520601" y="3974604"/>
            <a:ext cx="128988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New document uploaded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1785193" y="3974604"/>
            <a:ext cx="1165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1899493" y="3974604"/>
            <a:ext cx="110802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Re-index vector store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381000" y="4260354"/>
            <a:ext cx="3555950" cy="285750"/>
          </a:xfrm>
          <a:prstGeom prst="roundRect">
            <a:avLst>
              <a:gd fmla="val 13333" name="adj"/>
            </a:avLst>
          </a:prstGeom>
          <a:solidFill>
            <a:srgbClr val="FFF8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0"/>
          <p:cNvCxnSpPr/>
          <p:nvPr/>
        </p:nvCxnSpPr>
        <p:spPr>
          <a:xfrm>
            <a:off x="400050" y="4260354"/>
            <a:ext cx="0" cy="285750"/>
          </a:xfrm>
          <a:prstGeom prst="straightConnector1">
            <a:avLst/>
          </a:prstGeom>
          <a:noFill/>
          <a:ln cap="flat" cmpd="sng" w="38100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0"/>
          <p:cNvSpPr/>
          <p:nvPr/>
        </p:nvSpPr>
        <p:spPr>
          <a:xfrm>
            <a:off x="520601" y="4336554"/>
            <a:ext cx="13284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Accuracy below threshold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1822996" y="4336554"/>
            <a:ext cx="1165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1937296" y="4336554"/>
            <a:ext cx="77754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Alert for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10"/>
          <p:cNvCxnSpPr/>
          <p:nvPr/>
        </p:nvCxnSpPr>
        <p:spPr>
          <a:xfrm>
            <a:off x="4246513" y="1012627"/>
            <a:ext cx="0" cy="3876973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10"/>
          <p:cNvSpPr/>
          <p:nvPr/>
        </p:nvSpPr>
        <p:spPr>
          <a:xfrm>
            <a:off x="4484975" y="1366090"/>
            <a:ext cx="4291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Feedback Sources and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4484975" y="1715240"/>
            <a:ext cx="4206900" cy="295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10"/>
          <p:cNvCxnSpPr/>
          <p:nvPr/>
        </p:nvCxnSpPr>
        <p:spPr>
          <a:xfrm>
            <a:off x="4484975" y="2005753"/>
            <a:ext cx="4206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10"/>
          <p:cNvSpPr/>
          <p:nvPr/>
        </p:nvSpPr>
        <p:spPr>
          <a:xfrm>
            <a:off x="4561175" y="1791440"/>
            <a:ext cx="1295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Signal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5831126" y="1791440"/>
            <a:ext cx="1036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6847027" y="1791440"/>
            <a:ext cx="1803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10"/>
          <p:cNvCxnSpPr/>
          <p:nvPr/>
        </p:nvCxnSpPr>
        <p:spPr>
          <a:xfrm>
            <a:off x="4484975" y="2301028"/>
            <a:ext cx="4206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0"/>
          <p:cNvSpPr/>
          <p:nvPr/>
        </p:nvSpPr>
        <p:spPr>
          <a:xfrm>
            <a:off x="4484975" y="2086715"/>
            <a:ext cx="1295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Thumbs Up/Down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5754926" y="2086715"/>
            <a:ext cx="1036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 rating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6770827" y="2086715"/>
            <a:ext cx="1959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Review and improve responses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p10"/>
          <p:cNvCxnSpPr/>
          <p:nvPr/>
        </p:nvCxnSpPr>
        <p:spPr>
          <a:xfrm>
            <a:off x="4484975" y="2596303"/>
            <a:ext cx="4206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8" name="Google Shape;398;p10"/>
          <p:cNvSpPr/>
          <p:nvPr/>
        </p:nvSpPr>
        <p:spPr>
          <a:xfrm>
            <a:off x="4484975" y="2381990"/>
            <a:ext cx="1295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Query Rephrasing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5754926" y="2381990"/>
            <a:ext cx="1036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 behavior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6770827" y="2381990"/>
            <a:ext cx="1959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Improve response clarity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10"/>
          <p:cNvCxnSpPr/>
          <p:nvPr/>
        </p:nvCxnSpPr>
        <p:spPr>
          <a:xfrm>
            <a:off x="4484975" y="2891578"/>
            <a:ext cx="4206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10"/>
          <p:cNvSpPr/>
          <p:nvPr/>
        </p:nvSpPr>
        <p:spPr>
          <a:xfrm>
            <a:off x="4484975" y="2677265"/>
            <a:ext cx="1295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Failed Queries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5754926" y="2677265"/>
            <a:ext cx="1036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System logs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6770827" y="2677265"/>
            <a:ext cx="1959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Tune prompts, add examples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10"/>
          <p:cNvCxnSpPr/>
          <p:nvPr/>
        </p:nvCxnSpPr>
        <p:spPr>
          <a:xfrm>
            <a:off x="4484975" y="3186853"/>
            <a:ext cx="4206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10"/>
          <p:cNvSpPr/>
          <p:nvPr/>
        </p:nvSpPr>
        <p:spPr>
          <a:xfrm>
            <a:off x="4484975" y="2972540"/>
            <a:ext cx="1295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Repeated Questions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5754926" y="2972540"/>
            <a:ext cx="1036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Query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6770827" y="2972540"/>
            <a:ext cx="1959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Add to cache or FAQ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p10"/>
          <p:cNvCxnSpPr/>
          <p:nvPr/>
        </p:nvCxnSpPr>
        <p:spPr>
          <a:xfrm>
            <a:off x="4484975" y="3482128"/>
            <a:ext cx="4206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10"/>
          <p:cNvSpPr/>
          <p:nvPr/>
        </p:nvSpPr>
        <p:spPr>
          <a:xfrm>
            <a:off x="4484975" y="3267815"/>
            <a:ext cx="1295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Knowledge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5754926" y="3267815"/>
            <a:ext cx="1036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Guardrail logs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6770827" y="3267815"/>
            <a:ext cx="1959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Tune guardrail rules, expand scope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10"/>
          <p:cNvCxnSpPr/>
          <p:nvPr/>
        </p:nvCxnSpPr>
        <p:spPr>
          <a:xfrm>
            <a:off x="4484975" y="3777403"/>
            <a:ext cx="4206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0"/>
          <p:cNvSpPr/>
          <p:nvPr/>
        </p:nvSpPr>
        <p:spPr>
          <a:xfrm>
            <a:off x="4484975" y="3563089"/>
            <a:ext cx="1295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Human Escalations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5754926" y="3563089"/>
            <a:ext cx="1036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 requests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6770827" y="3563089"/>
            <a:ext cx="1959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Identify missing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507950" y="1063526"/>
            <a:ext cx="829066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Key Capabilities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507950" y="1466701"/>
            <a:ext cx="1879699" cy="977503"/>
          </a:xfrm>
          <a:prstGeom prst="roundRect">
            <a:avLst>
              <a:gd fmla="val 5197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11"/>
          <p:cNvCxnSpPr/>
          <p:nvPr/>
        </p:nvCxnSpPr>
        <p:spPr>
          <a:xfrm>
            <a:off x="507950" y="1485751"/>
            <a:ext cx="1879699" cy="0"/>
          </a:xfrm>
          <a:prstGeom prst="straightConnector1">
            <a:avLst/>
          </a:prstGeom>
          <a:noFill/>
          <a:ln cap="flat" cmpd="sng" w="3810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1"/>
          <p:cNvSpPr/>
          <p:nvPr/>
        </p:nvSpPr>
        <p:spPr>
          <a:xfrm>
            <a:off x="685651" y="1682502"/>
            <a:ext cx="155478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Unified Experience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685651" y="1911102"/>
            <a:ext cx="1554784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Analytics and Knowledge in one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2590800" y="1466701"/>
            <a:ext cx="1879699" cy="977503"/>
          </a:xfrm>
          <a:prstGeom prst="roundRect">
            <a:avLst>
              <a:gd fmla="val 5197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1"/>
          <p:cNvCxnSpPr/>
          <p:nvPr/>
        </p:nvCxnSpPr>
        <p:spPr>
          <a:xfrm>
            <a:off x="2590800" y="1485751"/>
            <a:ext cx="1879699" cy="0"/>
          </a:xfrm>
          <a:prstGeom prst="straightConnector1">
            <a:avLst/>
          </a:prstGeom>
          <a:noFill/>
          <a:ln cap="flat" cmpd="sng" w="3810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11"/>
          <p:cNvSpPr/>
          <p:nvPr/>
        </p:nvSpPr>
        <p:spPr>
          <a:xfrm>
            <a:off x="2768501" y="1682502"/>
            <a:ext cx="155478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Self-Service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2768501" y="1911102"/>
            <a:ext cx="1554784" cy="17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technical skills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4673650" y="1466701"/>
            <a:ext cx="1879699" cy="977503"/>
          </a:xfrm>
          <a:prstGeom prst="roundRect">
            <a:avLst>
              <a:gd fmla="val 5197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11"/>
          <p:cNvCxnSpPr/>
          <p:nvPr/>
        </p:nvCxnSpPr>
        <p:spPr>
          <a:xfrm>
            <a:off x="4673650" y="1485751"/>
            <a:ext cx="1879699" cy="0"/>
          </a:xfrm>
          <a:prstGeom prst="straightConnector1">
            <a:avLst/>
          </a:prstGeom>
          <a:noFill/>
          <a:ln cap="flat" cmpd="sng" w="3810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p11"/>
          <p:cNvSpPr/>
          <p:nvPr/>
        </p:nvSpPr>
        <p:spPr>
          <a:xfrm>
            <a:off x="4851350" y="1682502"/>
            <a:ext cx="155478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Secure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4851350" y="1911102"/>
            <a:ext cx="1554784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4-layer guardrails with audit trails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6756499" y="1466701"/>
            <a:ext cx="1879699" cy="977503"/>
          </a:xfrm>
          <a:prstGeom prst="roundRect">
            <a:avLst>
              <a:gd fmla="val 5197" name="adj"/>
            </a:avLst>
          </a:prstGeom>
          <a:solidFill>
            <a:srgbClr val="F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11"/>
          <p:cNvCxnSpPr/>
          <p:nvPr/>
        </p:nvCxnSpPr>
        <p:spPr>
          <a:xfrm>
            <a:off x="6756499" y="1485751"/>
            <a:ext cx="1879699" cy="0"/>
          </a:xfrm>
          <a:prstGeom prst="straightConnector1">
            <a:avLst/>
          </a:prstGeom>
          <a:noFill/>
          <a:ln cap="flat" cmpd="sng" w="38100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p11"/>
          <p:cNvSpPr/>
          <p:nvPr/>
        </p:nvSpPr>
        <p:spPr>
          <a:xfrm>
            <a:off x="6934200" y="1682502"/>
            <a:ext cx="155478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Scalable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6934200" y="1911102"/>
            <a:ext cx="1554784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Dynamic discovery, no hardcoding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507950" y="2749004"/>
            <a:ext cx="8128099" cy="1031528"/>
          </a:xfrm>
          <a:prstGeom prst="roundRect">
            <a:avLst>
              <a:gd fmla="val 4925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761851" y="2952155"/>
            <a:ext cx="77727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Architecture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1650653" y="3231505"/>
            <a:ext cx="1073944" cy="345877"/>
          </a:xfrm>
          <a:prstGeom prst="roundRect">
            <a:avLst>
              <a:gd fmla="val 14687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1795361" y="3333006"/>
            <a:ext cx="78452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2851547" y="3285381"/>
            <a:ext cx="2073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3181796" y="3231505"/>
            <a:ext cx="1259681" cy="345877"/>
          </a:xfrm>
          <a:prstGeom prst="roundRect">
            <a:avLst>
              <a:gd fmla="val 14687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324648" y="3333006"/>
            <a:ext cx="97397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Analytics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4568428" y="3285381"/>
            <a:ext cx="5768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4751933" y="3231505"/>
            <a:ext cx="1372344" cy="345877"/>
          </a:xfrm>
          <a:prstGeom prst="roundRect">
            <a:avLst>
              <a:gd fmla="val 14687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4893658" y="3333006"/>
            <a:ext cx="108889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Knowledge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6251228" y="3285381"/>
            <a:ext cx="2073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A90A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6581477" y="3231505"/>
            <a:ext cx="911721" cy="345877"/>
          </a:xfrm>
          <a:prstGeom prst="roundRect">
            <a:avLst>
              <a:gd fmla="val 14687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6727808" y="3333006"/>
            <a:ext cx="61906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507950" y="4034433"/>
            <a:ext cx="829066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507950" y="4437608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4A9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608707" y="4501009"/>
            <a:ext cx="7924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914251" y="4437608"/>
            <a:ext cx="14640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Validate use cases with stakeholders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2603450" y="4437608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4A9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2704207" y="4501009"/>
            <a:ext cx="7924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3009751" y="4437608"/>
            <a:ext cx="14640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Setup data and document 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4698950" y="4437608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4A9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4799707" y="4501009"/>
            <a:ext cx="7924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5105251" y="4437608"/>
            <a:ext cx="6046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Build MVP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6794450" y="4437608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4A9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6895207" y="4501009"/>
            <a:ext cx="7924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7200751" y="4437608"/>
            <a:ext cx="14640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Iterate based on feedback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